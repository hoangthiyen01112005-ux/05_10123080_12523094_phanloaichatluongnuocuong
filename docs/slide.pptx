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LỚN HỌC MÁY CƠ BẢN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CHẤT LƯỢNG NƯỚC UỐNG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Potability · 4 mô hình · Docker · FastAPI · MongoDB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Bùi Đăng Đạt (10123080) · Hoàng Thị Yên (12523094)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12523W.2 · GV: ThS. Nguyễn Đức Tuấn Anh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Công nghệ Kỹ thuật Hưng Yên –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và dữ liệu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toán: phân loại nhị phân – nước Potable (1) hay Not Potable (0)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liệu: Water Potability (Kaggle, Aditya Kadiwal), 3.276 mẫu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thuộc tính hóa lý (số): ph, Hardness, Solids, Chloramines, Sulfate, Conductivity, Organic_carbon, Trihalomethanes, Turbidity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dữ liệu: Sulfate 23,84%, ph 14,99%, Trihalomethanes 4,95%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0: 1.998 mẫu (60,99%) – Lớp 1: 1.278 mẫu (39,01%)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Train/Test 80/20, stratify, random_state=42 → 2.620 train / 656 test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1887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EAF4F6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61888" y="123444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4 thuật toán trên cùng Test Set, chọn model tốt nhất và đưa vào hệ thống web chạy Docker.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0" y="28346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EAF4F6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61888" y="2880360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chỉ có ý nghĩa trong phạm vi bộ dữ liệu, không thay thế kiểm nghiệm nước.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xử lý dữ liệu</a:t>
            </a:r>
            <a:endParaRPr lang="en-US" sz="2400" dirty="0"/>
          </a:p>
        </p:txBody>
      </p:sp>
      <p:pic>
        <p:nvPicPr>
          <p:cNvPr id="4" name="Image 0" descr="img/pre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26084"/>
            <a:ext cx="8412480" cy="2079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546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imputation: ít nhạy với ngoại lệ hơn mean; không xóa dòng vì sẽ mất dữ liệu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cần cho LR, SVM, KNN (dựa trên hệ số/khoảng cách)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dữ liệu trước, imputer và scaler nằm trong sklearn Pipeline → fit chỉ trên train, tránh data leakage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pipeline + classifier cùng file joblib để dự đoán giống hệt lúc huấn luyện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1/6 – Phân bố biến mục tiêu</a:t>
            </a:r>
            <a:endParaRPr lang="en-US" sz="2400" dirty="0"/>
          </a:p>
        </p:txBody>
      </p:sp>
      <p:pic>
        <p:nvPicPr>
          <p:cNvPr id="4" name="Image 0" descr="img/eda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502" y="914400"/>
            <a:ext cx="4789956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914400"/>
            <a:ext cx="3611880" cy="3977640"/>
          </a:xfrm>
          <a:prstGeom prst="rect">
            <a:avLst/>
          </a:prstGeom>
          <a:solidFill>
            <a:srgbClr val="F7FAFB"/>
          </a:solidFill>
          <a:ln w="9525">
            <a:solidFill>
              <a:srgbClr val="DD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cho thấy gì?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3075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0 (Not Potable) có 1.998 mẫu, chiếm 60,99%. Lớp 1 (Potable) có 1.278 mẫu, chiếm 39,01%, tỉ lệ khoảng 1,56 : 1.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223113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bài toán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58775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mất cân bằng vừa phải. Model dễ nghiêng về dự đoán lớp 0, nên chỉ nhìn Accuracy sẽ dễ hiểu lầm chất lượng model.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51129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xử lý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8679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Train/Test có stratify. Dùng class_weight=balanced cho LR và SVM. Đánh giá thêm Precision, Recall, F1, PR-AUC.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2/6 – Phân bố các thuộc tính số</a:t>
            </a:r>
            <a:endParaRPr lang="en-US" sz="2400" dirty="0"/>
          </a:p>
        </p:txBody>
      </p:sp>
      <p:pic>
        <p:nvPicPr>
          <p:cNvPr id="4" name="Image 0" descr="img/eda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82193"/>
            <a:ext cx="4846320" cy="38420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914400"/>
            <a:ext cx="3611880" cy="3977640"/>
          </a:xfrm>
          <a:prstGeom prst="rect">
            <a:avLst/>
          </a:prstGeom>
          <a:solidFill>
            <a:srgbClr val="F7FAFB"/>
          </a:solidFill>
          <a:ln w="9525">
            <a:solidFill>
              <a:srgbClr val="DD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cho thấy gì?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3075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lớn thuộc tính có dạng chuông, Solids lệch phải và đuôi dài (tối đa 61.227). Thang đo khác nhau rất xa: ph chỉ từ 0 đến 14.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223113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bài toán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58775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thang đo lớn khiến các model dựa trên khoảng cách (KNN, SVM) bị thuộc tính có giá trị lớn như Solids chi phối.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51129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xử lý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8679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StandardScaler trong Pipeline cho LR, SVM, KNN để mọi thuộc tính có trung bình 0 và độ lệch chuẩn 1.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3/6 – Boxplot và ngoại lai (IQR)</a:t>
            </a:r>
            <a:endParaRPr lang="en-US" sz="2400" dirty="0"/>
          </a:p>
        </p:txBody>
      </p:sp>
      <p:pic>
        <p:nvPicPr>
          <p:cNvPr id="4" name="Image 0" descr="img/eda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82193"/>
            <a:ext cx="4846320" cy="38420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914400"/>
            <a:ext cx="3611880" cy="3977640"/>
          </a:xfrm>
          <a:prstGeom prst="rect">
            <a:avLst/>
          </a:prstGeom>
          <a:solidFill>
            <a:srgbClr val="F7FAFB"/>
          </a:solidFill>
          <a:ln w="9525">
            <a:solidFill>
              <a:srgbClr val="DD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cho thấy gì?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3075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thuộc tính có các điểm nằm ngoài khoảng [Q1 − 1,5·IQR ; Q3 + 1,5·IQR], xuất hiện ở cả hai phía của hộp.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223113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bài toán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58775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điểm này có thể là quan sát hợp lệ của mẫu nước thật, chưa đủ cơ sở để coi là lỗi nhập liệu.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51129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xử lý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8679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xóa ngoại lệ. Dùng median thay cho mean khi điền thiếu, có StandardScaler, và thử Random Forest vì ít nhạy với ngoại lệ.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4/6 – Giá trị thiếu theo thuộc tính</a:t>
            </a:r>
            <a:endParaRPr lang="en-US" sz="2400" dirty="0"/>
          </a:p>
        </p:txBody>
      </p:sp>
      <p:pic>
        <p:nvPicPr>
          <p:cNvPr id="4" name="Image 0" descr="img/eda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03553"/>
            <a:ext cx="4846320" cy="29993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914400"/>
            <a:ext cx="3611880" cy="3977640"/>
          </a:xfrm>
          <a:prstGeom prst="rect">
            <a:avLst/>
          </a:prstGeom>
          <a:solidFill>
            <a:srgbClr val="F7FAFB"/>
          </a:solidFill>
          <a:ln w="9525">
            <a:solidFill>
              <a:srgbClr val="DD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cho thấy gì?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3075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 thiếu 781 giá trị (23,84%), ph thiếu 491 (14,99%), Trihalomethanes thiếu 162 (4,95%). Sáu thuộc tính còn lại đủ dữ liệu.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223113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bài toán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58775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xóa mọi dòng có giá trị thiếu, số mẫu giảm mạnh và phân bố hai lớp có thể bị lệch.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51129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xử lý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8679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SimpleImputer(median) trong Pipeline. Trung vị chỉ học từ tập train của từng fold, nên không rò rỉ dữ liệu từ Test Set.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5/6 – Ma trận tương quan</a:t>
            </a:r>
            <a:endParaRPr lang="en-US" sz="2400" dirty="0"/>
          </a:p>
        </p:txBody>
      </p:sp>
      <p:pic>
        <p:nvPicPr>
          <p:cNvPr id="4" name="Image 0" descr="img/eda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59891"/>
            <a:ext cx="4846320" cy="34866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914400"/>
            <a:ext cx="3611880" cy="3977640"/>
          </a:xfrm>
          <a:prstGeom prst="rect">
            <a:avLst/>
          </a:prstGeom>
          <a:solidFill>
            <a:srgbClr val="F7FAFB"/>
          </a:solidFill>
          <a:ln w="9525">
            <a:solidFill>
              <a:srgbClr val="DD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cho thấy gì?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3075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của mọi thuộc tính với Potability đều gần 0 (tối đa 0,03). Cặp thuộc tính mạnh nhất cũng chỉ khoảng −0,17 (Solids – Sulfate).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223113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bài toán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58775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thuộc tính nào liên hệ tuyến tính rõ với nhãn. Không có cặp nào trùng thông tin nên không cần bỏ cột.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51129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xử lý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8679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cả 9 thuộc tính. So sánh cả model tuyến tính (LR) và phi tuyến (SVM RBF, Random Forest), dự kiến LR sẽ yếu.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6/6 – Đặc trưng theo Potability</a:t>
            </a:r>
            <a:endParaRPr lang="en-US" sz="2400" dirty="0"/>
          </a:p>
        </p:txBody>
      </p:sp>
      <p:pic>
        <p:nvPicPr>
          <p:cNvPr id="4" name="Image 0" descr="img/eda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0885"/>
            <a:ext cx="4846320" cy="16046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914400"/>
            <a:ext cx="3611880" cy="3977640"/>
          </a:xfrm>
          <a:prstGeom prst="rect">
            <a:avLst/>
          </a:prstGeom>
          <a:solidFill>
            <a:srgbClr val="F7FAFB"/>
          </a:solidFill>
          <a:ln w="9525">
            <a:solidFill>
              <a:srgbClr val="DD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005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cho thấy gì?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3075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Solids, Organic_carbon, Chloramines, hộp của hai nhãn gần như chồng lên nhau. Pairplot cũng không tách thành hai cụm rõ.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223113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bài toán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58775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thuộc tính đơn lẻ nào phân biệt được nước uống được hay không. Đây là bài toán khó, kết quả model sẽ chỉ ở mức trung bình.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511296"/>
            <a:ext cx="3337560" cy="0"/>
          </a:xfrm>
          <a:prstGeom prst="line">
            <a:avLst/>
          </a:prstGeom>
          <a:noFill/>
          <a:ln w="9525">
            <a:solidFill>
              <a:srgbClr val="DDE6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xử lý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8679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đồng thời cả 9 thuộc tính, huấn luyện 4 model trên cùng Test Set và đánh giá bằng nhiều metric, không chỉ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mô hình và siêu tham số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92608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hình chính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Tìm tham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Tuyến tính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C=0,01; balanced; liblinear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Khảo sát theo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Biên / kernel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RBF; C=1; gamma=scale; 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Khảo sát theo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Khoảng cách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k=11; weights=uniform; p=2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 5-fold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(bagging)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cây; max_depth=20; sqrt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 5-fold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tập train, cùng Test Set 656 mẫu, cùng hàm đánh giá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đều là pipeline: Median → StandardScaler → classifier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chỉ dùng một lần cho kết quả cuối, không dùng chọn siêu tham số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mô hình: metric, thời gian dự đoán, dung lượng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  <a:gridCol w="731520"/>
                <a:gridCol w="731520"/>
                <a:gridCol w="868680"/>
                <a:gridCol w="868680"/>
                <a:gridCol w="100584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 đoán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0,0862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196,58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0,0528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433,94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0,0337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12.018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cao nhất: Accuracy, Precision, ROC-AUC, PR-AUC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cao nhất F1 (0,5118); Logistic Regression cao nhất Recall (0,5469)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nhanh và nhẹ nhất nhưng Accuracy chỉ 0,5305 (gần ngẫu nhiên)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nặng nhất (≈12 MB, còn dưới giới hạn 50 MB của GitHub), thời gian dự đoán 0,0337 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độ đo và ma trận nhầm lẫn</a:t>
            </a:r>
            <a:endParaRPr lang="en-US" sz="2400" dirty="0"/>
          </a:p>
        </p:txBody>
      </p:sp>
      <p:pic>
        <p:nvPicPr>
          <p:cNvPr id="4" name="Image 0" descr="img/c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41273"/>
            <a:ext cx="4206240" cy="2049374"/>
          </a:xfrm>
          <a:prstGeom prst="rect">
            <a:avLst/>
          </a:prstGeom>
        </p:spPr>
      </p:pic>
      <p:pic>
        <p:nvPicPr>
          <p:cNvPr id="5" name="Image 1" descr="img/c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324" y="914400"/>
            <a:ext cx="2818471" cy="256032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5468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640080"/>
                <a:gridCol w="64008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F0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754880" y="356616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bắt được nhiều Potable nhất (TP=140) nhưng báo nhầm 192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chỉ báo nhầm 46 nhưng bỏ sót 181/256 mẫu Potable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ít báo nhầm (FP=64) nhưng bỏ sót 191/256 mẫu Potable: Recall thấp nhất (0,2539), F1 chỉ 0,3377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cân bằng Precision–Recall nhất nên F1 cao nhất (0,5118)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mô hình cuối: Random Forest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AF4F6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051560"/>
            <a:ext cx="3895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Hiệu năng tổng thể tốt nhất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nhất ở Accuracy 0,6540, Precision 0,6198, ROC-AUC 0,6652, PR-AUC 0,6000.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AF4F6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2240280"/>
            <a:ext cx="3895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Phù hợp triển khai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0,0337 s (nhanh hơn SVM, KNN); file ≈12 MB, dưới 50 MB nên đẩy lên Git được.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AF4F6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" y="3429000"/>
            <a:ext cx="3895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Ít nhạy với ngoại lệ và thang đo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dữ liệu có ngoại lệ, quan hệ phi tuyến, nạp một lần lúc khởi động.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EAF4F6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051560"/>
            <a:ext cx="3895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cần nói rõ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chỉ 0,2930: bỏ sót nhiều mẫu Potable. Nếu ưu tiên phát hiện Potable thì SVM (F1 cao nhất) hoặc LR (Recall cao nhất) phù hợp hơn.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AF4F6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2788920"/>
            <a:ext cx="3895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xử lý trong hệ thống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là mặc định, nhưng người dùng vẫn chọn được lr, svm, knn, rf để so sánh. Cần tối ưu threshold theo chi phí FP/FN ở bước sau.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2400" dirty="0"/>
          </a:p>
        </p:txBody>
      </p:sp>
      <p:pic>
        <p:nvPicPr>
          <p:cNvPr id="4" name="Image 0" descr="img/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19824"/>
            <a:ext cx="4846320" cy="235531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051560"/>
          <a:ext cx="3611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14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 / vai trò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Bootstrap, Nginx: form 9 chỉ số, chọn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FastAPI: API Gateway, request_id, lưu lịch sử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Pydantic, scikit-learn: validate, predict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lịch sử dự đoán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khối một container, nối bằng tên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257800" y="3749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giữa các service đọc từ .env (AI_SERVICE_URL=http://ai-service:8000)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một lần dự đoán</a:t>
            </a:r>
            <a:endParaRPr lang="en-US" sz="2400" dirty="0"/>
          </a:p>
        </p:txBody>
      </p:sp>
      <p:pic>
        <p:nvPicPr>
          <p:cNvPr id="4" name="Image 0" descr="img/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499" y="868680"/>
            <a:ext cx="8507002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nhập 9 chỉ số, chọn model → Frontend gửi POST /api/predict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gán X-Request-ID, gọi AI Service POST /predict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validate theo schema, chạy pipeline.transform + model.predict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nhãn, xác suất, model_version → Backend lưu MongoDB → Frontend hiển thị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mỗi service cùng request_id; lỗi: 422 sai dữ liệu, 400 sai model, 503 service/DB lỗi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model và triển khai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Vị trí / nội dung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rf_model.joblib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ai-models/models/ (pipeline + model, nạp khi container khởi động)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schema.json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feature, kiểu, min–max → BE validate, FE dựng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metadata.json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1.0.0, metric, tên model cuối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từ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joblib.dump(pipeline) → tải về → đặt vào ai-models/models/ → push Git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một lệnh: cp .env.example .env rồi docker compose up -d --build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trạng thái: docker compose ps, GET /health, GET /model-info; log: docker compose logs -f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bằng ngrok (Frontend cổng 8080); link đổi thì ghi log và cập nhật .env, README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và hiệu năng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023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mục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AI Service (pytest)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 đạt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Backend (pytest)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 đạt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Docker, MongoDB, request_id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smoke test (ngrok)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 (10 user, 60 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929, thất bại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15,42 req/s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/ P95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620,65 / 861,78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Tỉ lệ lỗi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mục tiêu gợi ý: p95 dưới 2 giây, lỗi dưới 1%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đo ở 10 người dùng và một cấu hình máy, chưa suy ra được tải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luận, hạn chế và phân công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quy trình từ dữ liệu đến sản phẩm chạy Docker, public được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mô hình nào tốt nhất ở mọi chỉ số: RF (Accuracy), SVM (F1), LR (Recall)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hiệu năng trung bình, Recall của RF thấp; chưa calibration/tối ưu threshold; tunnel tạm thời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XGBoost/LightGBM, repeated CV, tối ưu threshold, cloud + HTTPS + xác thực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0" y="105156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EAF4F6"/>
          </a:solidFill>
          <a:ln w="12700">
            <a:solidFill>
              <a:srgbClr val="1D8A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30368" y="1097280"/>
            <a:ext cx="3438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Đăng Đạt: LR, SVM, preprocessing, evaluate, AI Service, Backend, Docker, test.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Thị Yên: KNN, RF, EDA, so sánh model, Frontend, báo cáo.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nhóm: tích hợp, review chéo, load test, slide.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37033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30368" y="3749040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và hỏi đáp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loại chất lượng nước uống</dc:title>
  <dc:subject>PptxGenJS Presentation</dc:subject>
  <dc:creator>PptxGenJS</dc:creator>
  <cp:lastModifiedBy>PptxGenJS</cp:lastModifiedBy>
  <cp:revision>1</cp:revision>
  <dcterms:created xsi:type="dcterms:W3CDTF">2026-10-02T08:34:10Z</dcterms:created>
  <dcterms:modified xsi:type="dcterms:W3CDTF">2026-10-02T08:34:10Z</dcterms:modified>
</cp:coreProperties>
</file>